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0d674677ec43e3" /><Relationship Type="http://schemas.openxmlformats.org/officeDocument/2006/relationships/extended-properties" Target="/docProps/app.xml" Id="Rcf4c773bcb0142bb" /><Relationship Type="http://schemas.openxmlformats.org/officeDocument/2006/relationships/officeDocument" Target="/ppt/presentation.xml" Id="R066331e10d4843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add07043d44320"/>
  </p:sldMasterIdLst>
  <p:notesMasterIdLst>
    <p:notesMasterId xmlns:r="http://schemas.openxmlformats.org/officeDocument/2006/relationships" r:id="Rca2c38dbd30f44cf"/>
  </p:notesMasterIdLst>
  <p:sldIdLst>
    <p:sldId xmlns:r="http://schemas.openxmlformats.org/officeDocument/2006/relationships" id="256" r:id="R50e27645352045e0"/>
    <p:sldId xmlns:r="http://schemas.openxmlformats.org/officeDocument/2006/relationships" id="257" r:id="R82d5f72163654e9a"/>
    <p:sldId xmlns:r="http://schemas.openxmlformats.org/officeDocument/2006/relationships" id="258" r:id="R910c33f7d053448b"/>
    <p:sldId xmlns:r="http://schemas.openxmlformats.org/officeDocument/2006/relationships" id="259" r:id="Rd7990c90f7f44b96"/>
    <p:sldId xmlns:r="http://schemas.openxmlformats.org/officeDocument/2006/relationships" id="260" r:id="R69d21ec147a44b1e"/>
    <p:sldId xmlns:r="http://schemas.openxmlformats.org/officeDocument/2006/relationships" id="261" r:id="R1b270040507947b6"/>
    <p:sldId xmlns:r="http://schemas.openxmlformats.org/officeDocument/2006/relationships" id="262" r:id="Rb587ca19971c4025"/>
    <p:sldId xmlns:r="http://schemas.openxmlformats.org/officeDocument/2006/relationships" id="263" r:id="R065f220505454f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35770f3ab8495b" /><Relationship Type="http://schemas.openxmlformats.org/officeDocument/2006/relationships/slideMaster" Target="/ppt/slideMasters/slideMaster1.xml" Id="R9badd07043d44320" /><Relationship Type="http://schemas.openxmlformats.org/officeDocument/2006/relationships/notesMaster" Target="/ppt/notesMasters/notesMaster1.xml" Id="Rca2c38dbd30f44cf" /><Relationship Type="http://schemas.openxmlformats.org/officeDocument/2006/relationships/presProps" Target="/ppt/presProps.xml" Id="R81de54d335d44966" /><Relationship Type="http://schemas.openxmlformats.org/officeDocument/2006/relationships/tableStyles" Target="/ppt/tableStyles.xml" Id="Rc40537fa9ca0491d" /><Relationship Type="http://schemas.openxmlformats.org/officeDocument/2006/relationships/slide" Target="/ppt/slides/slide1.xml" Id="R50e27645352045e0" /><Relationship Type="http://schemas.openxmlformats.org/officeDocument/2006/relationships/slide" Target="/ppt/slides/slide2.xml" Id="R82d5f72163654e9a" /><Relationship Type="http://schemas.openxmlformats.org/officeDocument/2006/relationships/slide" Target="/ppt/slides/slide3.xml" Id="R910c33f7d053448b" /><Relationship Type="http://schemas.openxmlformats.org/officeDocument/2006/relationships/slide" Target="/ppt/slides/slide4.xml" Id="Rd7990c90f7f44b96" /><Relationship Type="http://schemas.openxmlformats.org/officeDocument/2006/relationships/slide" Target="/ppt/slides/slide5.xml" Id="R69d21ec147a44b1e" /><Relationship Type="http://schemas.openxmlformats.org/officeDocument/2006/relationships/slide" Target="/ppt/slides/slide6.xml" Id="R1b270040507947b6" /><Relationship Type="http://schemas.openxmlformats.org/officeDocument/2006/relationships/slide" Target="/ppt/slides/slide7.xml" Id="Rb587ca19971c4025" /><Relationship Type="http://schemas.openxmlformats.org/officeDocument/2006/relationships/slide" Target="/ppt/slides/slide8.xml" Id="R065f220505454f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0575984d804e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6793c80d494f5e" /><Relationship Type="http://schemas.openxmlformats.org/officeDocument/2006/relationships/notesMaster" Target="/ppt/notesMasters/notesMaster1.xml" Id="R3f8d723a7b3641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83bf31eed945e5" /><Relationship Type="http://schemas.openxmlformats.org/officeDocument/2006/relationships/notesMaster" Target="/ppt/notesMasters/notesMaster1.xml" Id="Re5734c0816974d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1e7d7b1f294248" /><Relationship Type="http://schemas.openxmlformats.org/officeDocument/2006/relationships/notesMaster" Target="/ppt/notesMasters/notesMaster1.xml" Id="R846efd4ce9284a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722651fa3f438b" /><Relationship Type="http://schemas.openxmlformats.org/officeDocument/2006/relationships/notesMaster" Target="/ppt/notesMasters/notesMaster1.xml" Id="R779c2781d1bd4f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9e4589c9e54df3" /><Relationship Type="http://schemas.openxmlformats.org/officeDocument/2006/relationships/notesMaster" Target="/ppt/notesMasters/notesMaster1.xml" Id="R0278adb5e4d140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a6f691002341c9" /><Relationship Type="http://schemas.openxmlformats.org/officeDocument/2006/relationships/notesMaster" Target="/ppt/notesMasters/notesMaster1.xml" Id="Rc67ab0ca13fa4c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5a2479626241a4" /><Relationship Type="http://schemas.openxmlformats.org/officeDocument/2006/relationships/notesMaster" Target="/ppt/notesMasters/notesMaster1.xml" Id="R40d79596493e4f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0c67f475a14607" /><Relationship Type="http://schemas.openxmlformats.org/officeDocument/2006/relationships/notesMaster" Target="/ppt/notesMasters/notesMaster1.xml" Id="R1a73bcf222c04e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진단 결과와 학습 접근을 분리해, 성향 제한을 받은 사용자도 금융상품 구조를 공부하고 가정값으로 실험할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규칙 엔진이 성향과 탐색 범위를 결정하며, AI는 설명만 담당한다. AI 실패는 진단 실패가 아니라 TEMPLATE 폴백이다.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성향 제한과 지식 접근을 분리한다. 모든 실험 결과에는 입력·공식·seed·가정·한계를 함께 남긴다.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연결: S1 → S2. S2에서는 진단 가능 여부와 다음 가능일을 보여 주며, 등급과 무관하게 상품 학습으로 이동할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연결: S3에서 POST /assessments를 호출하고, S4에서 reasoningSource와 결과 근거를 보여 준다. AI 실패도 TEMPLATE 상태로 완료한다.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연결: S4 → S5 → S6. 상품 상세는 위험도, 기간, 결과 변수를 설명하고 교육용 고지를 항상 노출한다.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연결: /learn. 개념마다 quiz를 분리하고, 정답은 서버에서 채점한다. 화면에는 그림·오해·출처·다음 학습 행동을 함께 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연결: /practice. 실제 주문이나 특정 종목 추천 없이 가상 상품·충격·계산 결과·의미·한계를 한 화면에 보여 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b5f657f8548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8584db167b4f70" /><Relationship Type="http://schemas.openxmlformats.org/officeDocument/2006/relationships/slideLayout" Target="/ppt/slideLayouts/slideLayout1.xml" Id="R707a9f1e54584e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7a9f1e54584e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00633e2c54e80" /><Relationship Type="http://schemas.openxmlformats.org/officeDocument/2006/relationships/notesSlide" Target="/ppt/notesSlides/notesSlide1.xml" Id="R5d4145f9e0664f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e7f729b9b4606" /><Relationship Type="http://schemas.openxmlformats.org/officeDocument/2006/relationships/notesSlide" Target="/ppt/notesSlides/notesSlide2.xml" Id="R8ad944fd0dff49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36e84b7aa41e1" /><Relationship Type="http://schemas.openxmlformats.org/officeDocument/2006/relationships/notesSlide" Target="/ppt/notesSlides/notesSlide3.xml" Id="R047294c3d2df4a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d65ecd58e4441" /><Relationship Type="http://schemas.openxmlformats.org/officeDocument/2006/relationships/notesSlide" Target="/ppt/notesSlides/notesSlide4.xml" Id="Rdded6778fca04b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6152e14364b1a" /><Relationship Type="http://schemas.openxmlformats.org/officeDocument/2006/relationships/notesSlide" Target="/ppt/notesSlides/notesSlide5.xml" Id="Rc8282520df4c42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fef66db5c4b57" /><Relationship Type="http://schemas.openxmlformats.org/officeDocument/2006/relationships/notesSlide" Target="/ppt/notesSlides/notesSlide6.xml" Id="R07d105fb8b334c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ad5f44b394900" /><Relationship Type="http://schemas.openxmlformats.org/officeDocument/2006/relationships/notesSlide" Target="/ppt/notesSlides/notesSlide7.xml" Id="Redb69f73475846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32220af1a4694" /><Relationship Type="http://schemas.openxmlformats.org/officeDocument/2006/relationships/notesSlide" Target="/ppt/notesSlides/notesSlide8.xml" Id="R2e351bf573a545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5AB9FF-E517-4E18-8284-D2736BC2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9F5ECA1D-9D21-4094-9B5E-9724F300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BC5AB93-3C48-4D64-BA26-8DFBC093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45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01. 사용자 플로우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1376C-37C4-43E3-B98E-A99EF9C2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FinMATE의 전체 사용자 여정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6C4995-1E40-4009-9BF0-9DD8D9B4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진단 결과를 학습·실험으로 확장하는 구조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9A81AA-0A61-4086-BC16-C2F00647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label-진단·탐색">
            <a:extLst xmlns:a="http://schemas.openxmlformats.org/drawingml/2006/main">
              <a:ext uri="{FF2B5EF4-FFF2-40B4-BE49-F238E27FC236}">
                <a16:creationId xmlns:a16="http://schemas.microsoft.com/office/drawing/2014/main" id="{9BF9967C-0A10-4A79-8F45-D8721C4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0">
            <a:solidFill>
              <a:srgbClr val="EF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A18D5-AF42-426E-8DBB-6C8ED97A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진단·탐색</a:t>
            </a:r>
          </a:p>
        </p:txBody>
      </p:sp>
      <p:sp>
        <p:nvSpPr>
          <p:cNvPr id="9" name="로그인">
            <a:extLst xmlns:a="http://schemas.openxmlformats.org/drawingml/2006/main">
              <a:ext uri="{FF2B5EF4-FFF2-40B4-BE49-F238E27FC236}">
                <a16:creationId xmlns:a16="http://schemas.microsoft.com/office/drawing/2014/main" id="{0C78C2E2-F2F9-4F2C-99C5-883269D9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714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9ED14-1431-45C0-9F0B-767C2C62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D20B3-766B-41D6-82F3-5AAD391D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8AD00-5AB8-4044-8E4B-FFCBAB22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계정과 진단 이력 확인</a:t>
            </a:r>
          </a:p>
        </p:txBody>
      </p:sp>
      <p:sp>
        <p:nvSpPr>
          <p:cNvPr id="13" name="진단 질문">
            <a:extLst xmlns:a="http://schemas.openxmlformats.org/drawingml/2006/main">
              <a:ext uri="{FF2B5EF4-FFF2-40B4-BE49-F238E27FC236}">
                <a16:creationId xmlns:a16="http://schemas.microsoft.com/office/drawing/2014/main" id="{4030E587-1C6F-431A-B1A2-EC99E543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1714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804A-CA0F-4A1B-A502-61CB3B2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9DE1F-B64B-43D4-8FCA-E42C7B5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05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진단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3A292-EB9C-4FAF-9AED-1418511E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09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질문·선택지 조회</a:t>
            </a:r>
          </a:p>
        </p:txBody>
      </p:sp>
      <p:sp>
        <p:nvSpPr>
          <p:cNvPr id="17" name="규칙 판정">
            <a:extLst xmlns:a="http://schemas.openxmlformats.org/drawingml/2006/main">
              <a:ext uri="{FF2B5EF4-FFF2-40B4-BE49-F238E27FC236}">
                <a16:creationId xmlns:a16="http://schemas.microsoft.com/office/drawing/2014/main" id="{A6FAF4DA-33C8-4545-A5A3-F8340DD7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1714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894BE-7EDA-4781-ADE3-0A379373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AB808-4F85-42F3-9DE4-740E1AC0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규칙 판정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20EB3-26F9-40A4-BBB6-A6BB7979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09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점수·5단계 성향</a:t>
            </a:r>
          </a:p>
        </p:txBody>
      </p:sp>
      <p:sp>
        <p:nvSpPr>
          <p:cNvPr id="21" name="근거 설명">
            <a:extLst xmlns:a="http://schemas.openxmlformats.org/drawingml/2006/main">
              <a:ext uri="{FF2B5EF4-FFF2-40B4-BE49-F238E27FC236}">
                <a16:creationId xmlns:a16="http://schemas.microsoft.com/office/drawing/2014/main" id="{50BDB559-3CE1-4407-9792-49F6FFA2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1714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30F71-C5FB-449E-841A-297CE9B8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38D60-D76A-4967-ABDB-4705619A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근거 설명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F3AE3-E63A-49AD-B19F-D9A1B057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9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AI 또는 템플릿</a:t>
            </a:r>
          </a:p>
        </p:txBody>
      </p:sp>
      <p:sp>
        <p:nvSpPr>
          <p:cNvPr id="25" name="상품 탐색">
            <a:extLst xmlns:a="http://schemas.openxmlformats.org/drawingml/2006/main">
              <a:ext uri="{FF2B5EF4-FFF2-40B4-BE49-F238E27FC236}">
                <a16:creationId xmlns:a16="http://schemas.microsoft.com/office/drawing/2014/main" id="{2A6DEDD1-B4E2-4836-A318-AE0CF0A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40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0A0FF2-BE88-40A4-BBA5-3160CCF8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66ECCB-8E86-4D9D-B863-B95C3923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05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상품 탐색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BDC779-23C5-44EE-B38B-AEC3A4B8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098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카테고리·상세·고지</a:t>
            </a:r>
          </a:p>
        </p:txBody>
      </p:sp>
      <p:cxnSp>
        <p:nvCxnSpPr>
          <p:cNvPr id="8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57450" y="26384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781550" y="26384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105650" y="26384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429750" y="26384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sp>
        <p:nvSpPr>
          <p:cNvPr id="33" name="label-학습·연습">
            <a:extLst xmlns:a="http://schemas.openxmlformats.org/drawingml/2006/main">
              <a:ext uri="{FF2B5EF4-FFF2-40B4-BE49-F238E27FC236}">
                <a16:creationId xmlns:a16="http://schemas.microsoft.com/office/drawing/2014/main" id="{4FE7F4E0-72FA-4BCB-BA0C-5CF19AFC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solidFill>
              <a:srgbClr val="EAF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99AE4E-4739-4E66-831F-0C2E67F0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rPr>
              <a:t>학습·연습</a:t>
            </a:r>
          </a:p>
        </p:txBody>
      </p:sp>
      <p:sp>
        <p:nvSpPr>
          <p:cNvPr id="35" name="개념 트리">
            <a:extLst xmlns:a="http://schemas.openxmlformats.org/drawingml/2006/main">
              <a:ext uri="{FF2B5EF4-FFF2-40B4-BE49-F238E27FC236}">
                <a16:creationId xmlns:a16="http://schemas.microsoft.com/office/drawing/2014/main" id="{B1DB3823-1D01-409D-AA99-FEE7B76C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0A7312-3191-497F-85B0-C3468E72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AA9CC6-9CD6-4A02-9BCE-592BB59C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개념 트리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053ED8-4FD5-4BB4-B916-54A09DD6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자산군 → 상품 구조 → 메커니즘</a:t>
            </a:r>
          </a:p>
        </p:txBody>
      </p:sp>
      <p:sp>
        <p:nvSpPr>
          <p:cNvPr id="39" name="개념별 퀴즈">
            <a:extLst xmlns:a="http://schemas.openxmlformats.org/drawingml/2006/main">
              <a:ext uri="{FF2B5EF4-FFF2-40B4-BE49-F238E27FC236}">
                <a16:creationId xmlns:a16="http://schemas.microsoft.com/office/drawing/2014/main" id="{C5AB0157-8234-4715-BEF1-7367C494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2095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C38FAD-ED63-4897-B0DE-C647A08C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2C41A3-0B2B-497A-A1CC-2A13E63E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95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개념별 퀴즈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841FCF-37C8-4BEB-B760-C7A8160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00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오답 이유와 다음 학습</a:t>
            </a:r>
          </a:p>
        </p:txBody>
      </p:sp>
      <p:sp>
        <p:nvSpPr>
          <p:cNvPr id="43" name="메커니즘 실험">
            <a:extLst xmlns:a="http://schemas.openxmlformats.org/drawingml/2006/main">
              <a:ext uri="{FF2B5EF4-FFF2-40B4-BE49-F238E27FC236}">
                <a16:creationId xmlns:a16="http://schemas.microsoft.com/office/drawing/2014/main" id="{8405582A-DAB3-4D87-83A1-8AC157A6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2095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B2FF70-FE7A-4008-AB98-9D51028C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BB0A3D-7ED6-4E1A-A551-0E8ED7CC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메커니즘 실험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C988DA-EC81-4046-9D81-72C8CBD2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금리·수수료·옵션·레버리지</a:t>
            </a:r>
          </a:p>
        </p:txBody>
      </p:sp>
      <p:sp>
        <p:nvSpPr>
          <p:cNvPr id="47" name="포트폴리오 연습">
            <a:extLst xmlns:a="http://schemas.openxmlformats.org/drawingml/2006/main">
              <a:ext uri="{FF2B5EF4-FFF2-40B4-BE49-F238E27FC236}">
                <a16:creationId xmlns:a16="http://schemas.microsoft.com/office/drawing/2014/main" id="{76BFF974-B1F5-4AAE-B2D7-02F43442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2095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DB3964-4828-4F0F-912C-65F86A01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0D532E-465C-47A4-A9A3-CD0A3324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포트폴리오 연습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C311B0-620F-4FE5-B33F-80D65342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00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가상 상품·충격·전후 비교</a:t>
            </a:r>
          </a:p>
        </p:txBody>
      </p:sp>
      <p:cxnSp>
        <p:nvCxnSpPr>
          <p:cNvPr id="104" name=""/>
          <p:cNvCxnSpPr>
            <a:stCxn xmlns:a="http://schemas.openxmlformats.org/drawingml/2006/main" id="3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838450" y="48768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B6A"/>
            </a:solidFill>
            <a:prstDash val="solid"/>
            <a:head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524500" y="48768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B6A"/>
            </a:solidFill>
            <a:prstDash val="solid"/>
            <a:head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10550" y="48768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B6A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893830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background">
            <a:extLst xmlns:a="http://schemas.openxmlformats.org/drawingml/2006/main">
              <a:ext uri="{FF2B5EF4-FFF2-40B4-BE49-F238E27FC236}">
                <a16:creationId xmlns:a16="http://schemas.microsoft.com/office/drawing/2014/main" id="{B0CA8086-8C9C-48D9-B356-560D05E7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A42C814C-79C5-454E-ADC5-1A7B21E2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C900F03-453D-46C8-B267-7323E95F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02. 진단 흐름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5840B5-6E7E-4AB1-B6E1-590C2A6C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답변 제출부터 결과 확인까지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72853B-B4D4-4714-94C1-38BFCF0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정상 경로와 예외 경로를 함께 설계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235D76D-ABAD-40BF-82A2-C4938955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label-정상 경로">
            <a:extLst xmlns:a="http://schemas.openxmlformats.org/drawingml/2006/main">
              <a:ext uri="{FF2B5EF4-FFF2-40B4-BE49-F238E27FC236}">
                <a16:creationId xmlns:a16="http://schemas.microsoft.com/office/drawing/2014/main" id="{DC76CDD9-E577-41EB-A00B-F2022EAB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0">
            <a:solidFill>
              <a:srgbClr val="EF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ED8FC-3C4C-482B-AFEB-5018264E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정상 경로</a:t>
            </a:r>
          </a:p>
        </p:txBody>
      </p:sp>
      <p:sp>
        <p:nvSpPr>
          <p:cNvPr id="9" name="진단 가능 여부">
            <a:extLst xmlns:a="http://schemas.openxmlformats.org/drawingml/2006/main">
              <a:ext uri="{FF2B5EF4-FFF2-40B4-BE49-F238E27FC236}">
                <a16:creationId xmlns:a16="http://schemas.microsoft.com/office/drawing/2014/main" id="{E4964646-7366-4391-9A52-798492C0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809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3E4B1-840B-47E0-9149-257D6F7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BADCA-C791-4504-ADFC-44F3D9B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진단 가능 여부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3B0FD-0097-40B7-811A-16607394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GET /assessments/availability</a:t>
            </a:r>
          </a:p>
        </p:txBody>
      </p:sp>
      <p:sp>
        <p:nvSpPr>
          <p:cNvPr id="13" name="질문 응답">
            <a:extLst xmlns:a="http://schemas.openxmlformats.org/drawingml/2006/main">
              <a:ext uri="{FF2B5EF4-FFF2-40B4-BE49-F238E27FC236}">
                <a16:creationId xmlns:a16="http://schemas.microsoft.com/office/drawing/2014/main" id="{D45AD53E-2F00-4F70-8D1B-CA40F17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1809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19158-5E66-4616-A867-45078D5D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FAB7E-60C2-4812-BB9C-E08104F9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질문 응답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511FF-B7CB-4AEF-A6F8-D18D66D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GET /questions</a:t>
            </a:r>
          </a:p>
        </p:txBody>
      </p:sp>
      <p:sp>
        <p:nvSpPr>
          <p:cNvPr id="17" name="답변 제출">
            <a:extLst xmlns:a="http://schemas.openxmlformats.org/drawingml/2006/main">
              <a:ext uri="{FF2B5EF4-FFF2-40B4-BE49-F238E27FC236}">
                <a16:creationId xmlns:a16="http://schemas.microsoft.com/office/drawing/2014/main" id="{6D1D87C7-C536-4284-AE65-AC81E55D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809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C86F4-356D-4A77-824D-24D7F9A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40F1B-7EFE-4CE1-BAEC-A3684E3C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답변 제출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427ED-0C20-44AC-85D4-8171D57B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POST /assessments</a:t>
            </a:r>
          </a:p>
        </p:txBody>
      </p:sp>
      <p:sp>
        <p:nvSpPr>
          <p:cNvPr id="21" name="규칙 판정">
            <a:extLst xmlns:a="http://schemas.openxmlformats.org/drawingml/2006/main">
              <a:ext uri="{FF2B5EF4-FFF2-40B4-BE49-F238E27FC236}">
                <a16:creationId xmlns:a16="http://schemas.microsoft.com/office/drawing/2014/main" id="{276903D6-9AA5-411C-8F1A-2CCF760F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1809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541D7-A59A-45CC-A798-02FBB23F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FF50F-7A1E-49EF-AFC0-AD41B3E9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규칙 판정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B9746-1F8A-463D-90EA-46CC3D56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098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score · profileGrade</a:t>
            </a:r>
          </a:p>
        </p:txBody>
      </p:sp>
      <p:sp>
        <p:nvSpPr>
          <p:cNvPr id="25" name="결과·탐색">
            <a:extLst xmlns:a="http://schemas.openxmlformats.org/drawingml/2006/main">
              <a:ext uri="{FF2B5EF4-FFF2-40B4-BE49-F238E27FC236}">
                <a16:creationId xmlns:a16="http://schemas.microsoft.com/office/drawing/2014/main" id="{173D8CAF-D64F-46C6-BD04-CDAEC9BB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1714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E5146-31EE-4296-B9DB-B54838B7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534A1A-BE24-42A2-B17A-1A4A3287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05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결과·탐색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65666-E1BB-47CE-9A93-144BD9F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GET result + recommendations</a:t>
            </a:r>
          </a:p>
        </p:txBody>
      </p:sp>
      <p:cxnSp>
        <p:nvCxnSpPr>
          <p:cNvPr id="81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552700" y="2667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00600" y="2667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048500" y="2667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96400" y="2667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sp>
        <p:nvSpPr>
          <p:cNvPr id="33" name="label-예외 경로">
            <a:extLst xmlns:a="http://schemas.openxmlformats.org/drawingml/2006/main">
              <a:ext uri="{FF2B5EF4-FFF2-40B4-BE49-F238E27FC236}">
                <a16:creationId xmlns:a16="http://schemas.microsoft.com/office/drawing/2014/main" id="{ECC6623D-84DB-4C31-BD6D-8322B2F4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1AA21E-AEA0-4E03-993D-EB3EE86B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rPr>
              <a:t>예외 경로</a:t>
            </a:r>
          </a:p>
        </p:txBody>
      </p:sp>
      <p:sp>
        <p:nvSpPr>
          <p:cNvPr id="35" name="미응답 문항">
            <a:extLst xmlns:a="http://schemas.openxmlformats.org/drawingml/2006/main">
              <a:ext uri="{FF2B5EF4-FFF2-40B4-BE49-F238E27FC236}">
                <a16:creationId xmlns:a16="http://schemas.microsoft.com/office/drawing/2014/main" id="{58F0FE0A-D58C-4570-9362-A55D5942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2381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5263BC-5ED3-4D4C-8896-933A7A42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solidFill>
              <a:srgbClr val="C84C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950BA3-E983-43B3-9645-5F5BE173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미응답 문항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830EA7-2F1E-49CD-A55B-12EE2960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제출 버튼 비활성화</a:t>
            </a:r>
          </a:p>
        </p:txBody>
      </p:sp>
      <p:sp>
        <p:nvSpPr>
          <p:cNvPr id="39" name="AI 설명 실패">
            <a:extLst xmlns:a="http://schemas.openxmlformats.org/drawingml/2006/main">
              <a:ext uri="{FF2B5EF4-FFF2-40B4-BE49-F238E27FC236}">
                <a16:creationId xmlns:a16="http://schemas.microsoft.com/office/drawing/2014/main" id="{5F109692-92B0-408D-B717-D543594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0050"/>
            <a:ext cx="2381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D71ACE-390F-4B20-9025-DBE1AA73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00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45C3A9-A8F0-4F4D-BED7-347B8CE8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4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AI 설명 실패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B4A0F5-25E1-431F-B014-42D83054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291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TEMPLATE로 결과 완료</a:t>
            </a:r>
          </a:p>
        </p:txBody>
      </p:sp>
      <p:sp>
        <p:nvSpPr>
          <p:cNvPr id="43" name="데이터 준비 실패">
            <a:extLst xmlns:a="http://schemas.openxmlformats.org/drawingml/2006/main">
              <a:ext uri="{FF2B5EF4-FFF2-40B4-BE49-F238E27FC236}">
                <a16:creationId xmlns:a16="http://schemas.microsoft.com/office/drawing/2014/main" id="{363AF95C-8A22-4FED-9B92-041B9DA6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2381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ACFB4E-D98F-4105-85BC-A9B5ACE8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solidFill>
              <a:srgbClr val="C84C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2B8893-6760-4E5F-B0A3-84F936A2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데이터 준비 실패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5392CB-B004-4C5D-93F8-A556732B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291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503 + 답변 유지 재시도</a:t>
            </a:r>
          </a:p>
        </p:txBody>
      </p:sp>
      <p:sp>
        <p:nvSpPr>
          <p:cNvPr id="47" name="권한 오류">
            <a:extLst xmlns:a="http://schemas.openxmlformats.org/drawingml/2006/main">
              <a:ext uri="{FF2B5EF4-FFF2-40B4-BE49-F238E27FC236}">
                <a16:creationId xmlns:a16="http://schemas.microsoft.com/office/drawing/2014/main" id="{A8731E95-ABB3-4251-8DED-9FAAE834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10050"/>
            <a:ext cx="21336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6109D5-D813-4787-A97E-7A633EA9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100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solidFill>
              <a:srgbClr val="C84C5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21E329-D181-48F4-AC7B-E18F19D2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A6EA77-89EF-49FF-A0C6-A801AB50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291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401/403 안내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F0A0E2-3813-4782-A69B-7EA79970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화면은 실패를 숨기지 않고 사용자가 다음 행동을 선택하게 한다.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A4FCBB-2F58-4A9E-90B9-F425F08D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FR-02~07  ·  /assessments  ·  reasoningSource  ·  고지 문구</a:t>
            </a:r>
          </a:p>
        </p:txBody>
      </p:sp>
    </p:spTree>
    <p:extLst>
      <p:ext uri="{BB962C8B-B14F-4D97-AF65-F5344CB8AC3E}">
        <p14:creationId xmlns:p14="http://schemas.microsoft.com/office/powerpoint/2010/main" val="7610938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background">
            <a:extLst xmlns:a="http://schemas.openxmlformats.org/drawingml/2006/main">
              <a:ext uri="{FF2B5EF4-FFF2-40B4-BE49-F238E27FC236}">
                <a16:creationId xmlns:a16="http://schemas.microsoft.com/office/drawing/2014/main" id="{76C891BA-01AA-4DCE-B28F-F647FA5E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CB2051FD-1EF3-4D76-B89B-A7EF7437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BF13A59-B04F-456D-932A-9CEAE326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729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03. 학습·연습 흐름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285D80-679C-41F7-A9B8-21E22B6A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상품명을 외우는 화면에서 메커니즘을 실험하는 화면으로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8A04FE0-0D69-44F6-BF50-07B4416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각 단계가 다음 API와 화면으로 연결된다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C2F2FD5-E25E-4FFD-90E0-04AE34E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learning-lane">
            <a:extLst xmlns:a="http://schemas.openxmlformats.org/drawingml/2006/main">
              <a:ext uri="{FF2B5EF4-FFF2-40B4-BE49-F238E27FC236}">
                <a16:creationId xmlns:a16="http://schemas.microsoft.com/office/drawing/2014/main" id="{0826E58C-5A39-4DD6-BD48-F62C585D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8577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8" name="practice-lane">
            <a:extLst xmlns:a="http://schemas.openxmlformats.org/drawingml/2006/main">
              <a:ext uri="{FF2B5EF4-FFF2-40B4-BE49-F238E27FC236}">
                <a16:creationId xmlns:a16="http://schemas.microsoft.com/office/drawing/2014/main" id="{48ADDC42-5753-42C0-A126-F2345D8A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52387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3C7EA-3BAB-43F3-B5DB-710D28F7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개념 학습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8D348-1ADA-4BBA-970D-B0A4DCE2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43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rPr>
              <a:t>가상 포트폴리오 연습</a:t>
            </a:r>
          </a:p>
        </p:txBody>
      </p:sp>
      <p:sp>
        <p:nvSpPr>
          <p:cNvPr id="11" name="1. 개념 트리">
            <a:extLst xmlns:a="http://schemas.openxmlformats.org/drawingml/2006/main">
              <a:ext uri="{FF2B5EF4-FFF2-40B4-BE49-F238E27FC236}">
                <a16:creationId xmlns:a16="http://schemas.microsoft.com/office/drawing/2014/main" id="{D0791525-9CD7-48EC-883B-8949813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095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878AC-7AAC-48BF-A219-5C2C0F63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81812-65CF-428F-B990-D9BF9306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1. 개념 트리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4EA17-F50A-4BD9-9731-3EFFDF99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38671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주식 · 채권 · 펀드 · ETF · 파생</a:t>
            </a:r>
          </a:p>
        </p:txBody>
      </p:sp>
      <p:sp>
        <p:nvSpPr>
          <p:cNvPr id="15" name="2. 상품 학습 카드">
            <a:extLst xmlns:a="http://schemas.openxmlformats.org/drawingml/2006/main">
              <a:ext uri="{FF2B5EF4-FFF2-40B4-BE49-F238E27FC236}">
                <a16:creationId xmlns:a16="http://schemas.microsoft.com/office/drawing/2014/main" id="{FD262C4B-6903-4232-9204-9FEB0025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4095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F447D-0B0B-45FA-887D-31AF0894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D63A0-6C0E-49D8-92C1-4DD7B66F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2. 상품 학습 카드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319D5-689C-4B5D-B148-762C8441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38671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돈의 흐름 그림 · 오해 · 공식 출처</a:t>
            </a:r>
          </a:p>
        </p:txBody>
      </p:sp>
      <p:sp>
        <p:nvSpPr>
          <p:cNvPr id="19" name="3. 개념별 퀴즈">
            <a:extLst xmlns:a="http://schemas.openxmlformats.org/drawingml/2006/main">
              <a:ext uri="{FF2B5EF4-FFF2-40B4-BE49-F238E27FC236}">
                <a16:creationId xmlns:a16="http://schemas.microsoft.com/office/drawing/2014/main" id="{A51970AF-4D37-4113-BB8E-7BC45626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095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36FB1-A84D-4168-9428-8CDEF788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F56F4-9379-44C3-861C-84ED953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3. 개념별 퀴즈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44FDF-0CAA-4BEA-93BD-05B524A8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67250"/>
            <a:ext cx="38671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선택지별 오답 해설</a:t>
            </a:r>
          </a:p>
        </p:txBody>
      </p:sp>
      <p:cxnSp>
        <p:nvCxnSpPr>
          <p:cNvPr id="62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114675" y="3200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114675" y="4000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sp>
        <p:nvSpPr>
          <p:cNvPr id="25" name="1. 가상 상품 선택">
            <a:extLst xmlns:a="http://schemas.openxmlformats.org/drawingml/2006/main">
              <a:ext uri="{FF2B5EF4-FFF2-40B4-BE49-F238E27FC236}">
                <a16:creationId xmlns:a16="http://schemas.microsoft.com/office/drawing/2014/main" id="{DF3AB5A9-9DA5-4C7B-9A01-3C3C4B86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4572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EC9888-2E0B-4256-A84F-EC11037E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641AA-D2F2-48A0-AE83-DE637B7A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1. 가상 상품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37DED-4A54-4842-93D2-F3CBC434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4343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주식 · 채권 · ETF · 금 · 리츠 · 선물 · 옵션</a:t>
            </a:r>
          </a:p>
        </p:txBody>
      </p:sp>
      <p:sp>
        <p:nvSpPr>
          <p:cNvPr id="29" name="2. 충격 입력">
            <a:extLst xmlns:a="http://schemas.openxmlformats.org/drawingml/2006/main">
              <a:ext uri="{FF2B5EF4-FFF2-40B4-BE49-F238E27FC236}">
                <a16:creationId xmlns:a16="http://schemas.microsoft.com/office/drawing/2014/main" id="{B83C5200-9916-4EBD-802F-8DE682D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4572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EDE08-0935-4158-9DF8-72EBC21F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AAEAA-A476-43AC-B483-0FF7D26F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2. 충격 입력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1FBAB7-FB45-43FA-BBF9-AB7F4306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4343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가격 · 금리 · 환율 · 비용 · 기간</a:t>
            </a:r>
          </a:p>
        </p:txBody>
      </p:sp>
      <p:sp>
        <p:nvSpPr>
          <p:cNvPr id="33" name="3. 결과 비교">
            <a:extLst xmlns:a="http://schemas.openxmlformats.org/drawingml/2006/main">
              <a:ext uri="{FF2B5EF4-FFF2-40B4-BE49-F238E27FC236}">
                <a16:creationId xmlns:a16="http://schemas.microsoft.com/office/drawing/2014/main" id="{27785150-07EF-4C3C-AB4B-4049A66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4572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827FBA-A7B1-4DCD-B19D-2F9F3E51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6EDF86-38D0-4A53-B2DC-CAECD84D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3. 결과 비교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5CC09C-475F-49D2-A5E8-687D6EB5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67250"/>
            <a:ext cx="4343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손익 · 낙폭 · 노출 · 자산별 기여도</a:t>
            </a:r>
          </a:p>
        </p:txBody>
      </p:sp>
      <p:cxnSp>
        <p:nvCxnSpPr>
          <p:cNvPr id="76" name="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820150" y="3200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B6A"/>
            </a:solidFill>
            <a:prstDash val="solid"/>
            <a:head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2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8820150" y="4000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B6A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E8B529-4901-4171-A840-C3FA897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학습 점수는 투자 가능 여부가 아니라 다음 확인 행동을 정하는 신호다.</a:t>
            </a:r>
          </a:p>
        </p:txBody>
      </p:sp>
    </p:spTree>
    <p:extLst>
      <p:ext uri="{BB962C8B-B14F-4D97-AF65-F5344CB8AC3E}">
        <p14:creationId xmlns:p14="http://schemas.microsoft.com/office/powerpoint/2010/main" val="18037364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background">
            <a:extLst xmlns:a="http://schemas.openxmlformats.org/drawingml/2006/main">
              <a:ext uri="{FF2B5EF4-FFF2-40B4-BE49-F238E27FC236}">
                <a16:creationId xmlns:a16="http://schemas.microsoft.com/office/drawing/2014/main" id="{6143A4E8-2614-4974-9740-FB0673FD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205E0CA7-D982-46AC-8EEA-3A99EED8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C66862C-1BA7-4D3D-9905-5F7F9F2A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6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04. 와이어프레임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4282CC-3227-4A57-BF79-DBE8F172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시작 화면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4C4FBA-0CAC-4043-BCE8-D94A1B7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로그인 이후 진단과 학습으로 분기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B8532A7-30F1-43B9-BD39-1B62D69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wire-S1 로그인">
            <a:extLst xmlns:a="http://schemas.openxmlformats.org/drawingml/2006/main">
              <a:ext uri="{FF2B5EF4-FFF2-40B4-BE49-F238E27FC236}">
                <a16:creationId xmlns:a16="http://schemas.microsoft.com/office/drawing/2014/main" id="{E75DD7C2-8F50-4C4C-BD20-9DA3876C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5A6C1-0FD0-4813-8EA1-4AD6F7B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54D34-339D-4D36-B217-D94D4E6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1025B-362B-41C6-9AAB-0A0D696F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27329-EE6A-4249-9B1C-99C1A897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83361-6094-4B3E-9CF7-E84DF3A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S1 로그인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E8E08-08B7-4990-8CA2-4BC48313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FinMATE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FD566-1043-40AE-BC4D-294391F8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AI 투자 성향 진단과 금융상품 학습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B28D4-79F7-42FE-9070-7AEFF60B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7182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이메일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49636-FCD0-436B-AB48-26B7BD57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81375"/>
            <a:ext cx="35623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4B32B-748F-45E6-8D0B-835029C9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learner@example.com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ED1DB-C73C-4A60-93A8-405F7A96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비밀번호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73F2E-5369-4F8F-A113-2F6DBB37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35623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43ECE-6DF4-4511-B85D-C27C3317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43375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••••••••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3C39D-F970-401B-8673-D5A1C4A7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3562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1F8EB-E181-44D2-98A0-945951D3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76775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288F1-5172-4CEA-BE5D-2BCC7FF8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76825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계정이 없나요? 회원가입</a:t>
            </a:r>
          </a:p>
        </p:txBody>
      </p:sp>
      <p:sp>
        <p:nvSpPr>
          <p:cNvPr id="24" name="wire-S2 진단 시작">
            <a:extLst xmlns:a="http://schemas.openxmlformats.org/drawingml/2006/main">
              <a:ext uri="{FF2B5EF4-FFF2-40B4-BE49-F238E27FC236}">
                <a16:creationId xmlns:a16="http://schemas.microsoft.com/office/drawing/2014/main" id="{33466C8C-968D-4CE8-8259-B02F97E5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8E6ED-2EBB-4075-B01E-D1F2FB7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FDD31-5E9E-46E3-972D-91FD6F2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E3469-4253-412B-B472-6704BA9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01873-8ADC-4F16-9040-0D765482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65ED59-9AA7-440F-9FCB-633247A6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S2 진단 시작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81630A-041F-4CB1-82D0-CDD847E4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오늘의 학습 경로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2D843-EC9E-47F4-A143-8033D20F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98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현재 성향과 학습 목적을 분리해 선택하세요.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3E2305-E2C7-43F2-8DE7-BDFFF513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36766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0">
            <a:solidFill>
              <a:srgbClr val="EFF3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775247-8E24-463C-BC46-895D6BA0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051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진단 가능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095A4D-474A-44A4-BB85-40000C37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다음 진단 가능일: 2026.10.10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014C84-A95B-48F7-8ACE-95F97FD0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24300"/>
            <a:ext cx="3676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662DE3-4BCC-497E-B53A-EAF8D9DF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7192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진단 시작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B63C66-7048-42E2-B7DC-2465B0A2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19600"/>
            <a:ext cx="36766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2D513E-3D52-4294-823C-E52EA8F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52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상품 학습으로 바로 이동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86CB0B-A743-4173-9BBD-B83FC8C0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01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등급과 상관없이 개념을 공부할 수 있어요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6D5D05-8101-48FB-9F9F-938D53D9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S1  회원가입·로그인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2610C4-1490-487E-A33C-18A18715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S2  진단 시작 / 학습 바로가기</a:t>
            </a:r>
          </a:p>
        </p:txBody>
      </p:sp>
    </p:spTree>
    <p:extLst>
      <p:ext uri="{BB962C8B-B14F-4D97-AF65-F5344CB8AC3E}">
        <p14:creationId xmlns:p14="http://schemas.microsoft.com/office/powerpoint/2010/main" val="13217610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ackground">
            <a:extLst xmlns:a="http://schemas.openxmlformats.org/drawingml/2006/main">
              <a:ext uri="{FF2B5EF4-FFF2-40B4-BE49-F238E27FC236}">
                <a16:creationId xmlns:a16="http://schemas.microsoft.com/office/drawing/2014/main" id="{EEAAB06E-E080-48FE-9CF3-B44DA9CF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B4E6F78D-32BE-43B0-A128-3E1574D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EE918463-F580-4BC2-BD1F-8D9743C7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69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05. 와이어프레임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90C470-31FB-4A16-BE9F-91C7DD9C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진단과 결과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44B724-C6AB-4668-9620-2A8203D7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입력 상태·판정 결과·AI 폴백 상태를 한 흐름으로 확인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83B2853-C861-4ED0-ABDF-0805FA1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wire-S3 진단 진행">
            <a:extLst xmlns:a="http://schemas.openxmlformats.org/drawingml/2006/main">
              <a:ext uri="{FF2B5EF4-FFF2-40B4-BE49-F238E27FC236}">
                <a16:creationId xmlns:a16="http://schemas.microsoft.com/office/drawing/2014/main" id="{974DBC2F-B038-4525-AC3F-4071CF94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9BAB2-9361-4592-A3E9-62219BCF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A92E8-9CDC-4A8E-B874-0D7D6D1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B4C79-53C2-495A-B4E8-2BE79B08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0CB28-17CF-4C9F-B596-EE5F2F12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6BD61-F156-40BE-A22A-D24C1DBC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S3 진단 진행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BD336-15B2-44C4-8B4B-561CD437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투자 성향 진단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E8C5E-4A1E-44EB-8971-1908912B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3 /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1C39B-5510-4A35-9496-D88B40E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DC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BF1B4-EB57-4DAB-9FBF-73D215F1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원금 손실 가능성을 어느 정도 감수할 수 있나요?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F588D-24C6-4469-A2D7-2952DB18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6766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01804-5563-4A97-9867-0AA4DDAB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6C18B-F91C-47C8-AA92-AE64FB11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957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손실을 감수하기 어렵다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EFBE3-89A6-4806-95CE-74B90815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36766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19050">
            <a:solidFill>
              <a:srgbClr val="3157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F6852-2A81-46AD-AA55-317FCD8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9525">
            <a:solidFill>
              <a:srgbClr val="3157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829A1-D0D1-4E14-8741-81772F6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일부 손실은 이해할 수 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6D0BC-E5B1-4B16-AD13-1D11BBEA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36766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10A4D-838D-443F-B0D4-53E675E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E95D2-EDAC-40E8-AE47-2DDB37F8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720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높은 변동성도 감수할 수 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0F1ED-4F46-4759-8B62-1F54A18C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3676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8F9CED-7161-4AE9-805F-F2761EDF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0542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</a:t>
            </a:r>
          </a:p>
        </p:txBody>
      </p:sp>
      <p:sp>
        <p:nvSpPr>
          <p:cNvPr id="28" name="wire-S4 분석 결과">
            <a:extLst xmlns:a="http://schemas.openxmlformats.org/drawingml/2006/main">
              <a:ext uri="{FF2B5EF4-FFF2-40B4-BE49-F238E27FC236}">
                <a16:creationId xmlns:a16="http://schemas.microsoft.com/office/drawing/2014/main" id="{67D36DE3-E679-4E38-9C49-844F8753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922AD-1038-463C-A7B4-AA6084E6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087F62-BCF6-4B01-9BCC-822F9020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4FE2F2-9532-440E-BB85-1A783F1B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07F9B-76B6-44C5-B295-8325EBE6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99BB10-5A17-483B-B8EF-6CCD1F3D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S4 분석 결과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7E9246-2338-4684-873B-08E6EE8B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분석 결과</a:t>
            </a:r>
          </a:p>
        </p:txBody>
      </p:sp>
      <p:sp>
        <p:nvSpPr>
          <p:cNvPr id="35" name="label-TEMPLATE 설명">
            <a:extLst xmlns:a="http://schemas.openxmlformats.org/drawingml/2006/main">
              <a:ext uri="{FF2B5EF4-FFF2-40B4-BE49-F238E27FC236}">
                <a16:creationId xmlns:a16="http://schemas.microsoft.com/office/drawing/2014/main" id="{94005A71-A923-46DC-8E25-C115B4FB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051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0">
            <a:solidFill>
              <a:srgbClr val="FFF7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0D766C-6091-4102-B87C-729DE20C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336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TEMPLATE 설명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F97EE6-203F-444E-93ED-FCF2AB8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242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위험중립형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552E56-37FA-4183-9A7B-DE66643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052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점수 51 / 100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3E2C93-AF44-4F59-9F92-A48841F4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052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DCE3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D3611F-874D-463D-ACAE-161B8BD4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767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판정 근거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68C0F6-05F6-4638-9A46-6F1A911D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2435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위험과 손실 가능성을 이해하고 분산을 고려하는 응답이 많았습니다.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2827C7-1A1B-4D68-A04A-500972F5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57800"/>
            <a:ext cx="3676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9ADA94-16AA-4799-B4A7-AF8BB71E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0542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탐색 카테고리 보기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55E689-F08A-4042-89E0-9113F45B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S3  진단 진행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73BB12-47CF-4F63-A290-B295EE83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S4  분석 결과·근거·탐색</a:t>
            </a:r>
          </a:p>
        </p:txBody>
      </p:sp>
    </p:spTree>
    <p:extLst>
      <p:ext uri="{BB962C8B-B14F-4D97-AF65-F5344CB8AC3E}">
        <p14:creationId xmlns:p14="http://schemas.microsoft.com/office/powerpoint/2010/main" val="4512735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B24638C-E9ED-4E6A-9CDE-725F6633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50CB2132-160A-4C4C-B62C-F36660C3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8CF5704-8E91-403D-8746-B56DAE41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06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06. 와이어프레임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902A9F-F9BF-4D4E-B25A-590E91F7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상품 탐색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3C5881-AABB-4265-B205-CF5325CA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상품명보다 위험 변수와 확인 문서를 먼저 보여 주는 구조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60928-65B4-4B48-A1F9-2E74629D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wire-S5 상품 탐색">
            <a:extLst xmlns:a="http://schemas.openxmlformats.org/drawingml/2006/main">
              <a:ext uri="{FF2B5EF4-FFF2-40B4-BE49-F238E27FC236}">
                <a16:creationId xmlns:a16="http://schemas.microsoft.com/office/drawing/2014/main" id="{3CBAA7BA-6D81-4CE7-A6CC-3029188A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B4395-B08C-4A27-A999-C8F6BE4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29BE1-A6DC-4C55-9B2A-778CE4B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56E57-4B37-442C-9C8F-F7EC1FC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7E28F-ECD1-48DC-BCD7-5913373B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2F63F-E2B6-4FFD-8345-5361CFE3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S5 상품 탐색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7B11C-B865-41A6-AB8B-1AE8BE03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탐색 카테고리</a:t>
            </a:r>
          </a:p>
        </p:txBody>
      </p:sp>
      <p:sp>
        <p:nvSpPr>
          <p:cNvPr id="14" name="label-채권">
            <a:extLst xmlns:a="http://schemas.openxmlformats.org/drawingml/2006/main">
              <a:ext uri="{FF2B5EF4-FFF2-40B4-BE49-F238E27FC236}">
                <a16:creationId xmlns:a16="http://schemas.microsoft.com/office/drawing/2014/main" id="{44947725-6B57-4778-9FB9-098AF1E2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0">
            <a:solidFill>
              <a:srgbClr val="EFF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E45B6-6DAE-4DED-836D-411C4DE3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527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채권</a:t>
            </a:r>
          </a:p>
        </p:txBody>
      </p:sp>
      <p:sp>
        <p:nvSpPr>
          <p:cNvPr id="16" name="label-ETF">
            <a:extLst xmlns:a="http://schemas.openxmlformats.org/drawingml/2006/main">
              <a:ext uri="{FF2B5EF4-FFF2-40B4-BE49-F238E27FC236}">
                <a16:creationId xmlns:a16="http://schemas.microsoft.com/office/drawing/2014/main" id="{286CA720-507D-4EF1-AC90-CF591A64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241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0">
            <a:solidFill>
              <a:srgbClr val="F6F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8A587-FFEE-400F-84D8-321F1CEA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527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ETF</a:t>
            </a:r>
          </a:p>
        </p:txBody>
      </p:sp>
      <p:sp>
        <p:nvSpPr>
          <p:cNvPr id="18" name="label-금">
            <a:extLst xmlns:a="http://schemas.openxmlformats.org/drawingml/2006/main">
              <a:ext uri="{FF2B5EF4-FFF2-40B4-BE49-F238E27FC236}">
                <a16:creationId xmlns:a16="http://schemas.microsoft.com/office/drawing/2014/main" id="{2D66EA3B-5915-41D0-A0AE-66093DE5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241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0">
            <a:solidFill>
              <a:srgbClr val="F6F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E60CB-39ED-471F-B8D3-9D9DEA00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527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A10ED-01F6-421F-AA8D-DCCBA1A3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36766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F9760-7D5D-4C40-B0F4-5ADBF014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단기 채권 예시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81664-C780-4F37-8B4C-6F6FD5A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304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낮은 위험 · 1~3년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C5966-D0AC-45F1-AB93-A22F943B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6AD0E-C2ED-4698-9906-C2F6B23F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36766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100AA-2C2B-4B6C-B89C-69269CED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48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채권형 펀드 예시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9029C-3261-4F32-803B-CC0BD006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29075"/>
            <a:ext cx="304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중간 위험 · 3년 이상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DEC82-4568-4A09-B99B-27FCB7EB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F215B1-6A0A-4AD2-89EF-A31291A2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6766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91302-8988-4C03-BDB0-CAC251EA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96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글로벌 채권 ETF 예시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06491-2818-4E2C-8EC3-21A1562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304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중간 위험 · 3년 이상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CC4738-B167-43EE-BF1F-58B9DC44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DBF05D-A32B-44A3-BD91-7332A6D1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864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내부 탐색 기준 · 투자 권유 아님</a:t>
            </a:r>
          </a:p>
        </p:txBody>
      </p:sp>
      <p:sp>
        <p:nvSpPr>
          <p:cNvPr id="33" name="wire-S6 상품 상세">
            <a:extLst xmlns:a="http://schemas.openxmlformats.org/drawingml/2006/main">
              <a:ext uri="{FF2B5EF4-FFF2-40B4-BE49-F238E27FC236}">
                <a16:creationId xmlns:a16="http://schemas.microsoft.com/office/drawing/2014/main" id="{A2EBC51D-3C74-4C3B-B1E5-7077C8D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869D6B-34E5-42C1-B5CC-188938A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3352D2-8727-47E7-8DB8-A7C1BAD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08C3BE-5C9D-490B-9E5B-61FF1DF5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CB2C7C-826B-44C9-8FF0-69C5DC32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63108F-CA26-4492-9079-BD8CC487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S6 상품 상세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9586A2-D8F5-4164-BA36-D60614FC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단기 채권 예시</a:t>
            </a:r>
          </a:p>
        </p:txBody>
      </p:sp>
      <p:sp>
        <p:nvSpPr>
          <p:cNvPr id="40" name="label-위험등급 3">
            <a:extLst xmlns:a="http://schemas.openxmlformats.org/drawingml/2006/main">
              <a:ext uri="{FF2B5EF4-FFF2-40B4-BE49-F238E27FC236}">
                <a16:creationId xmlns:a16="http://schemas.microsoft.com/office/drawing/2014/main" id="{8B579447-501F-42F1-A1F5-64AC97A1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05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0">
            <a:solidFill>
              <a:srgbClr val="FFF7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3AA2BE-7B8D-46D4-A88A-87F718FE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336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위험등급 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00A600-CBFE-4362-9F65-DA4AB34E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527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예상 투자기간 1~3년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A32C11-34EC-444D-8060-11126E29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DCE3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6024B6-FE8E-4D9D-B691-C68FA82C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무엇이 결과를 바꾸나요?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3B6CED-853C-4F93-8580-371B2DA3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242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시장금리 · 듀레이션 · 신용등급 · 중도매도 가격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37C8D1-8A47-4101-89C2-240C49A2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767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가입 전 확인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96DFB7-1886-4692-A362-2FA52F00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243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설명서 · 수수료 · 위험등급 · 유동성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B6CBD9-A596-48FB-92C2-F675A4A6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911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rPr>
              <a:t>교육용 예시이며 투자 권유나 수익을 보장하지 않습니다.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516015-852F-46E1-AD19-2807E283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S5  카테고리·상품 목록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169736-4DC3-4524-9FC6-1B74BADA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S6  상품 상세·확인 항목</a:t>
            </a:r>
          </a:p>
        </p:txBody>
      </p:sp>
    </p:spTree>
    <p:extLst>
      <p:ext uri="{BB962C8B-B14F-4D97-AF65-F5344CB8AC3E}">
        <p14:creationId xmlns:p14="http://schemas.microsoft.com/office/powerpoint/2010/main" val="1063894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ackground">
            <a:extLst xmlns:a="http://schemas.openxmlformats.org/drawingml/2006/main">
              <a:ext uri="{FF2B5EF4-FFF2-40B4-BE49-F238E27FC236}">
                <a16:creationId xmlns:a16="http://schemas.microsoft.com/office/drawing/2014/main" id="{8E3F939F-A3B3-4589-91D0-897DC20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0D5FC8F7-6B13-47F9-80C6-77EF11D8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0DDCD51-C154-4721-98B0-25630420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92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07. 와이어프레임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38E86C-B582-4D23-A09D-78E792E8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개념 학습과 확인 문제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428761-D317-4506-AF1F-2B2A1B49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개념마다 다른 문항과 구조 그림을 제공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4F4F7B9-C93D-43C8-9773-5CA31C8F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wire-S7 학습 트리 + S8 개념별 퀴즈">
            <a:extLst xmlns:a="http://schemas.openxmlformats.org/drawingml/2006/main">
              <a:ext uri="{FF2B5EF4-FFF2-40B4-BE49-F238E27FC236}">
                <a16:creationId xmlns:a16="http://schemas.microsoft.com/office/drawing/2014/main" id="{B728FF45-C9A6-46A3-AA9E-AF9BD53A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7061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4168C-A8F2-45D6-BD68-DE60BA0B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70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CB12B-DEEC-4567-8D41-57FEFBD7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05226-09F5-4FA6-A52C-17D846B9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997DB-5864-43A5-8731-18386B6E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462BB-49A0-4255-93E3-6DDAC9BE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76425"/>
            <a:ext cx="1003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S7 학습 트리 + S8 개념별 퀴즈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891D3-4EC1-4109-98F3-0EEE0957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381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E2D86-4255-4AB2-B349-180984B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개념 트리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D3A21-4A67-44CA-ABFE-F8FE7CF3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투자의 기초 원리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C4FA6-32A3-42B0-AF9D-931ECA0C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  위험과 수익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587CE-BEF6-464D-98EF-C412BD8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  변동성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830D2-E94B-460A-AE79-F3793D38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자산군과 상품 구조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A996A-FF52-4AE3-8085-54BEE5F1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  채권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8A312-F63B-49DB-BB61-6F6B2514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  ETF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A1B7F-D4EF-4A3E-A73E-D09FDB5D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파생상품과 레버리지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F905D-45B8-4730-B695-45DF8E32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3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개념 상세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21730-F508-4653-8900-FA5E8138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금리가 오르면 채권 가격은 왜 내려갈까?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0A683-2924-4E1A-843C-66A6973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34290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solidFill>
              <a:srgbClr val="EAF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B9DC8-19DE-410C-BF1B-FF652D5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004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rPr>
              <a:t>구조 그림</a:t>
            </a:r>
          </a:p>
          <a:p xmlns:a="http://schemas.openxmlformats.org/drawingml/2006/main">
            <a:pPr algn="ctr">
              <a:defRPr sz="1125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rPr>
              <a:t>채권 현금흐름 → 할인율 → 현재가격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7C6E3-B98C-46E0-8460-420530C0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33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공식 출처 · 자주 하는 오해 · 가입 전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304CA-28E5-4613-A430-3D21F7C7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DCE3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B5C2D9-557F-4E9C-A512-9E7151F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38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확인 문제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CABB3-87C0-4D4A-9379-2FBD3023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금리 상승 시 채권 가격은 어떻게 변하나요?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06A4B-955E-47F7-97F7-5E39E44D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238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02406-1FF2-4E6C-A826-5872E55B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상승한다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EE8755-D05D-414B-9B53-719B4FD9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81450"/>
            <a:ext cx="3238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19050">
            <a:solidFill>
              <a:srgbClr val="3157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FF0F19-7888-4898-821B-08388BB2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하락한다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5A5571-7A05-4D35-B9C8-E2481A18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38650"/>
            <a:ext cx="3238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E80687-9840-40F1-8B15-1A045384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053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항상 같다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68FF15-A66E-46EC-85B7-0DDD8165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48250"/>
            <a:ext cx="3238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FAAF53-BDB7-404C-9F93-9E5A4954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95875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채점하고 오답 이유 보기</a:t>
            </a:r>
          </a:p>
        </p:txBody>
      </p:sp>
    </p:spTree>
    <p:extLst>
      <p:ext uri="{BB962C8B-B14F-4D97-AF65-F5344CB8AC3E}">
        <p14:creationId xmlns:p14="http://schemas.microsoft.com/office/powerpoint/2010/main" val="18765956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background">
            <a:extLst xmlns:a="http://schemas.openxmlformats.org/drawingml/2006/main">
              <a:ext uri="{FF2B5EF4-FFF2-40B4-BE49-F238E27FC236}">
                <a16:creationId xmlns:a16="http://schemas.microsoft.com/office/drawing/2014/main" id="{B7F03E7C-89B6-4B35-A50F-F5FD48F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5E2498DD-C313-4986-9489-665A8C6A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B4FE778-8C4E-44BD-A26D-2C7FF296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45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08. 와이어프레임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AC013A-55E1-4A58-9669-1968E111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교육용 포트폴리오 연습기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A37D3D-B05A-4CC5-8728-F4788752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상품을 사는 화면이 아니라 변수를 바꾸고 의미를 확인하는 화면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2FAB2FB-F1A0-42B2-8CCD-1301B24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wire-S9 모의 포트폴리오">
            <a:extLst xmlns:a="http://schemas.openxmlformats.org/drawingml/2006/main">
              <a:ext uri="{FF2B5EF4-FFF2-40B4-BE49-F238E27FC236}">
                <a16:creationId xmlns:a16="http://schemas.microsoft.com/office/drawing/2014/main" id="{E9744B28-F593-4E98-A731-248E461D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7061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40D4C-2FE3-4EB0-A163-2B071AF3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70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535B0-0379-4933-8B1A-05ACD27A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B9864-0F80-4BC9-903E-DF3AF65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FB5FE-6AF7-4E75-948C-B4585151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C39B5-2A90-4298-887F-E23F5413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19275"/>
            <a:ext cx="1003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S9 모의 포트폴리오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96466-A049-4C92-BFD7-517C5819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가상 예산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692F0-00B4-470B-A3EB-23025B0C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16383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CD141-367C-4529-8CFB-4064A3B0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₩10,000,000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1178B-6D13-4CD5-A92B-C6D9EE28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가상 상품 바구니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22F93-FC7E-478E-AA69-D5DBAEBD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88A13-4561-46F2-B3CE-9B7DB700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장기 채권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A9FF7-FC32-4E9E-841F-798F1EDE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385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₩4,000,000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484A5-7F1B-42EE-8003-1197FCE4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517DB-0D47-4AE6-9E61-C1102A67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385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주식형 ETF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049AE-81DB-4F79-81CE-ADDF32FF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₩3,000,000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D4368-CE80-43A6-ACBE-F87BA07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E6C70-7872-4B42-BED7-7CD999C6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38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F96EE2-304C-40AA-9D90-73654E5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38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₩2,000,000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C3E87-6857-4186-B2A0-EDEEF399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47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충격 시나리오</a:t>
            </a:r>
          </a:p>
        </p:txBody>
      </p:sp>
      <p:sp>
        <p:nvSpPr>
          <p:cNvPr id="27" name="label-금리 +1%p">
            <a:extLst xmlns:a="http://schemas.openxmlformats.org/drawingml/2006/main">
              <a:ext uri="{FF2B5EF4-FFF2-40B4-BE49-F238E27FC236}">
                <a16:creationId xmlns:a16="http://schemas.microsoft.com/office/drawing/2014/main" id="{F75AF791-44F0-443A-ACE8-A801EAE5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1460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0">
            <a:solidFill>
              <a:srgbClr val="EFF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EECCCA-5F01-436E-B813-D829A168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431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금리 +1%p</a:t>
            </a:r>
          </a:p>
        </p:txBody>
      </p:sp>
      <p:sp>
        <p:nvSpPr>
          <p:cNvPr id="29" name="label-주가 -10%">
            <a:extLst xmlns:a="http://schemas.openxmlformats.org/drawingml/2006/main">
              <a:ext uri="{FF2B5EF4-FFF2-40B4-BE49-F238E27FC236}">
                <a16:creationId xmlns:a16="http://schemas.microsoft.com/office/drawing/2014/main" id="{C9209FB7-A7C6-4351-A0A8-D25FEF21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146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607B5-7E45-4DAB-92C7-98AD43FD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43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rPr>
              <a:t>주가 -10%</a:t>
            </a:r>
          </a:p>
        </p:txBody>
      </p:sp>
      <p:sp>
        <p:nvSpPr>
          <p:cNvPr id="31" name="label-환율 +3%">
            <a:extLst xmlns:a="http://schemas.openxmlformats.org/drawingml/2006/main">
              <a:ext uri="{FF2B5EF4-FFF2-40B4-BE49-F238E27FC236}">
                <a16:creationId xmlns:a16="http://schemas.microsoft.com/office/drawing/2014/main" id="{A4CEBAEA-4982-49A4-AB0B-DDAEB47F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146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solidFill>
              <a:srgbClr val="EAF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4D63E-322E-4B28-84AD-D2D63DF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43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rPr>
              <a:t>환율 +3%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AF6F9-673F-4FCE-A1D6-3B0AE433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05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분석 결과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41D4E-DB47-4F65-90A5-96B7F523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9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rPr>
              <a:t>-₩350,000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848EED-92CF-4D61-B631-35103518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90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수익률 -3.5%  ·  선형 노출 1.2배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DAF564-7D3B-4A57-B8C2-D256C9C9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29100"/>
            <a:ext cx="29718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0">
            <a:solidFill>
              <a:srgbClr val="F6F8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12FB2-51A1-4D97-A53C-9D158180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815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자산별 기여도</a:t>
            </a:r>
          </a:p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채권  -₩320,000</a:t>
            </a:r>
          </a:p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ETF   -₩210,000</a:t>
            </a:r>
          </a:p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금    +₩100,000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DA0EB6-7E4D-4AA1-8120-CB7B658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DCE3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E35E6C-CA23-48AC-B95A-EF6D2EF9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결과의 의미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D907A3-DDB0-435C-8FC8-400E4494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003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금리 충격이 듀레이션이 긴 채권에 더 크게 반영되었습니다.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이는 실제 수익률 예측이 아니라 입력한 가정을 계산한 교육용 결과입니다.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DCC8D1-BC89-4F76-BD27-F88072C1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148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E6FB21-FB65-4F66-BF3C-77EA9A9F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6247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변경 전후 비교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3CE5F1-6845-43F8-A763-F462FF9F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244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API: POST /practice/analyze · POST /practice/compare</a:t>
            </a:r>
          </a:p>
        </p:txBody>
      </p:sp>
    </p:spTree>
    <p:extLst>
      <p:ext uri="{BB962C8B-B14F-4D97-AF65-F5344CB8AC3E}">
        <p14:creationId xmlns:p14="http://schemas.microsoft.com/office/powerpoint/2010/main" val="1300120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2026-09-10T02:36:05.9460000Z</dcterms:created>
  <dcterms:modified xsi:type="dcterms:W3CDTF">2026-09-10T02:36:05.9460000Z</dcterms:modified>
</coreProperties>
</file>