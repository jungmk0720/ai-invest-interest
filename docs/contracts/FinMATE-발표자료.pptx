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02575" y="2468880"/>
            <a:ext cx="8412480" cy="8412480"/>
          </a:xfrm>
          <a:prstGeom prst="ellipse">
            <a:avLst/>
          </a:prstGeom>
          <a:noFill/>
          <a:ln w="12700">
            <a:solidFill>
              <a:srgbClr val="3A5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6035040" cy="6035040"/>
          </a:xfrm>
          <a:prstGeom prst="ellipse">
            <a:avLst/>
          </a:prstGeom>
          <a:noFill/>
          <a:ln w="12700">
            <a:solidFill>
              <a:srgbClr val="3A5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80015" y="4846320"/>
            <a:ext cx="3657600" cy="3657600"/>
          </a:xfrm>
          <a:prstGeom prst="ellipse">
            <a:avLst/>
          </a:prstGeom>
          <a:noFill/>
          <a:ln w="12700">
            <a:solidFill>
              <a:srgbClr val="3A5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8229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F55E8"/>
                </a:solidFill>
                <a:latin typeface="Apple SD Gothic Neo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412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FinMATE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Apple SD Gothic Neo"/>
              </a:rPr>
              <a:t>FinMATE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29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9D6FF"/>
                </a:solidFill>
                <a:latin typeface="Apple SD Gothic Neo"/>
              </a:rPr>
              <a:t>AI 투자 성향 진단 및 금융상품 탐색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776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FB4EE"/>
                </a:solidFill>
                <a:latin typeface="Apple SD Gothic Neo"/>
              </a:rPr>
              <a:t>AI 웹 서비스 설계 Mini-project · 1차 Agile(P0) 결과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C90C9"/>
                </a:solidFill>
                <a:latin typeface="Apple SD Gothic Neo"/>
              </a:rPr>
              <a:t>AI 캠퍼스 · 발표자: ______ ·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왜 만드는가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200"/>
              </a:spcAft>
            </a:pPr>
            <a:r>
              <a:rPr sz="17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700">
                <a:solidFill>
                  <a:srgbClr val="151B2E"/>
                </a:solidFill>
                <a:latin typeface="Apple SD Gothic Neo"/>
              </a:rPr>
              <a:t>투자 초보자는 자신의 위험 감수 성향과 투자 목적을 객관적으로 파악하기 어렵다.</a:t>
            </a:r>
          </a:p>
          <a:p>
            <a:pPr>
              <a:lnSpc>
                <a:spcPct val="130000"/>
              </a:lnSpc>
              <a:spcAft>
                <a:spcPts val="2200"/>
              </a:spcAft>
            </a:pPr>
            <a:r>
              <a:rPr sz="17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700">
                <a:solidFill>
                  <a:srgbClr val="151B2E"/>
                </a:solidFill>
                <a:latin typeface="Apple SD Gothic Neo"/>
              </a:rPr>
              <a:t>기존 금융 서비스는 상품 정보는 제공하지만, “왜 이 상품이 나에게 맞는지”에 대한 근거는 제공하지 않는다.</a:t>
            </a:r>
          </a:p>
          <a:p>
            <a:pPr>
              <a:lnSpc>
                <a:spcPct val="130000"/>
              </a:lnSpc>
              <a:spcAft>
                <a:spcPts val="2200"/>
              </a:spcAft>
            </a:pPr>
            <a:r>
              <a:rPr sz="17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700">
                <a:solidFill>
                  <a:srgbClr val="151B2E"/>
                </a:solidFill>
                <a:latin typeface="Apple SD Gothic Neo"/>
              </a:rPr>
              <a:t>사용자의 답변(투자 목적·기간·손실 민감도 등)을 AI가 해석해 성향을 분류하고, 판단 근거를 자연어로 설명해 주는 서비스가 필요하다.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타깃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231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51B2E"/>
                </a:solidFill>
                <a:latin typeface="Apple SD Gothic Neo"/>
              </a:rPr>
              <a:t>투자를 시작하고 싶지만 자신의 투자 성향과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51B2E"/>
                </a:solidFill>
                <a:latin typeface="Apple SD Gothic Neo"/>
              </a:rPr>
              <a:t>적합한 상품을 판단하기 어려운 금융 초보자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429000"/>
            <a:ext cx="4480560" cy="18288"/>
          </a:xfrm>
          <a:prstGeom prst="rect">
            <a:avLst/>
          </a:prstGeom>
          <a:solidFill>
            <a:srgbClr val="E2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명시적 제외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977639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실제 증권계좌 연동, 실제 매수·매도 주문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수익률 보장, 실시간 주가 분석·예측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개인별 세금·법률 자문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02. 서비스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FinMATE의 핵심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C6685"/>
                </a:solidFill>
                <a:latin typeface="Apple SD Gothic Neo"/>
              </a:rPr>
              <a:t>사용자의 투자 목적과 위험 감수 성향을 AI가 분석하고, 분석 근거와 함께 적합한 금융상품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C6685"/>
                </a:solidFill>
                <a:latin typeface="Apple SD Gothic Neo"/>
              </a:rPr>
              <a:t>카테고리와 예시 상품을 탐색하도록 돕는 웹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36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AEFFF"/>
                </a:solidFill>
                <a:latin typeface="Apple SD Gothic Neo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51B2E"/>
                </a:solidFill>
                <a:latin typeface="Apple SD Gothic Neo"/>
              </a:rPr>
              <a:t>근거 있는 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“추천”이 아니라 “근거 있는 탐색”에 집중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(실제 매매·수익 보장·투자 자문 없음)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8036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36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AEFFF"/>
                </a:solidFill>
                <a:latin typeface="Apple SD Gothic Neo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16052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51B2E"/>
                </a:solidFill>
                <a:latin typeface="Apple SD Gothic Neo"/>
              </a:rPr>
              <a:t>규칙 → AI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634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성향 등급은 결정적 규칙 엔진이 확정하고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AI는 그 결과를 설명하는 역할만 담당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8036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136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AEFFF"/>
                </a:solidFill>
                <a:latin typeface="Apple SD Gothic Neo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6576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16052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51B2E"/>
                </a:solidFill>
                <a:latin typeface="Apple SD Gothic Neo"/>
              </a:rPr>
              <a:t>안전한 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내부 위험 필터를 통과한 카테고리 안에서만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C6685"/>
                </a:solidFill>
                <a:latin typeface="Apple SD Gothic Neo"/>
              </a:rPr>
              <a:t>사전 등록된 예시 상품을 탐색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03. 1차 Agile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P0(1차) vs P1(2차 확장 후보)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F5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F55E8"/>
                </a:solidFill>
                <a:latin typeface="Apple SD Gothic Neo"/>
              </a:rPr>
              <a:t>1차 Agile (P0) — 이번 발표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151B2E"/>
                </a:solidFill>
                <a:latin typeface="Apple SD Gothic Neo"/>
              </a:rPr>
              <a:t>투자 성향 진단 질문 응답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151B2E"/>
                </a:solidFill>
                <a:latin typeface="Apple SD Gothic Neo"/>
              </a:rPr>
              <a:t>AI 기반 투자 성향 분석 및 근거 제공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151B2E"/>
                </a:solidFill>
                <a:latin typeface="Apple SD Gothic Neo"/>
              </a:rPr>
              <a:t>성향에 맞는 금융상품 카테고리 안내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151B2E"/>
                </a:solidFill>
                <a:latin typeface="Apple SD Gothic Neo"/>
              </a:rPr>
              <a:t>안내 카테고리의 예시 상품 목록·상세 탐색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C6685"/>
                </a:solidFill>
                <a:latin typeface="Apple SD Gothic Neo"/>
              </a:rPr>
              <a:t>2차 Agile (P1) — 확장 후보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5C6685"/>
                </a:solidFill>
                <a:latin typeface="Apple SD Gothic Neo"/>
              </a:rPr>
              <a:t>개별 상품 비교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5C6685"/>
                </a:solidFill>
                <a:latin typeface="Apple SD Gothic Neo"/>
              </a:rPr>
              <a:t>가상 포트폴리오 저장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5C6685"/>
                </a:solidFill>
                <a:latin typeface="Apple SD Gothic Neo"/>
              </a:rPr>
              <a:t>관리자용 질문·상품 관리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500">
                <a:solidFill>
                  <a:srgbClr val="5C6685"/>
                </a:solidFill>
                <a:latin typeface="Apple SD Gothic Neo"/>
              </a:rPr>
              <a:t>자연어 자유 입력 및 진단 이력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04. 핵심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“등급 판정은 규칙, 설명만 AI”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14016"/>
            <a:ext cx="1636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F55E8"/>
                </a:solidFill>
                <a:latin typeface="Apple SD Gothic Neo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1B2E"/>
                </a:solidFill>
                <a:latin typeface="Apple SD Gothic Neo"/>
              </a:rPr>
              <a:t>답변 제출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16367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5문항 응답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(가중치 합 100)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4" y="3136392"/>
            <a:ext cx="206425" cy="219456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0753" y="228600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2F55E8"/>
          </a:solidFill>
          <a:ln w="16510">
            <a:solidFill>
              <a:srgbClr val="2F5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5345" y="2414016"/>
            <a:ext cx="1636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ple SD Gothic Neo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345" y="2852928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규칙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5345" y="3310128"/>
            <a:ext cx="16367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DCE4FF"/>
                </a:solidFill>
                <a:latin typeface="Apple SD Gothic Neo"/>
              </a:rPr>
              <a:t>가중평균 점수 계산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DCE4FF"/>
                </a:solidFill>
                <a:latin typeface="Apple SD Gothic Neo"/>
              </a:rPr>
              <a:t>→ 5단계 성향 결정</a:t>
            </a:r>
          </a:p>
        </p:txBody>
      </p:sp>
      <p:sp>
        <p:nvSpPr>
          <p:cNvPr id="15" name="Chevron 14"/>
          <p:cNvSpPr/>
          <p:nvPr/>
        </p:nvSpPr>
        <p:spPr>
          <a:xfrm>
            <a:off x="4851577" y="3136392"/>
            <a:ext cx="206425" cy="219456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2867" y="228600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7459" y="2414016"/>
            <a:ext cx="1636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F55E8"/>
                </a:solidFill>
                <a:latin typeface="Apple SD Gothic Neo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7459" y="2852928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1B2E"/>
                </a:solidFill>
                <a:latin typeface="Apple SD Gothic Neo"/>
              </a:rPr>
              <a:t>내부 필터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7459" y="3310128"/>
            <a:ext cx="16367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성향등급 ↔ 상품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위험등급(1~6) 비교</a:t>
            </a:r>
          </a:p>
        </p:txBody>
      </p:sp>
      <p:sp>
        <p:nvSpPr>
          <p:cNvPr id="20" name="Chevron 19"/>
          <p:cNvSpPr/>
          <p:nvPr/>
        </p:nvSpPr>
        <p:spPr>
          <a:xfrm>
            <a:off x="7133691" y="3136392"/>
            <a:ext cx="206425" cy="219456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4981" y="228600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9573" y="2414016"/>
            <a:ext cx="1636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F55E8"/>
                </a:solidFill>
                <a:latin typeface="Apple SD Gothic Neo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9573" y="2852928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1B2E"/>
                </a:solidFill>
                <a:latin typeface="Apple SD Gothic Neo"/>
              </a:rPr>
              <a:t>AI 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9573" y="3310128"/>
            <a:ext cx="16367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Claude가 결과를 바탕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으로 근거 문장만 생성</a:t>
            </a:r>
          </a:p>
        </p:txBody>
      </p:sp>
      <p:sp>
        <p:nvSpPr>
          <p:cNvPr id="25" name="Chevron 24"/>
          <p:cNvSpPr/>
          <p:nvPr/>
        </p:nvSpPr>
        <p:spPr>
          <a:xfrm>
            <a:off x="9415805" y="3136392"/>
            <a:ext cx="206425" cy="219456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77095" y="228600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6510">
            <a:solidFill>
              <a:srgbClr val="F0C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1687" y="2414016"/>
            <a:ext cx="1636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8A5A00"/>
                </a:solidFill>
                <a:latin typeface="Apple SD Gothic Neo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1687" y="2852928"/>
            <a:ext cx="16367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1B2E"/>
                </a:solidFill>
                <a:latin typeface="Apple SD Gothic Neo"/>
              </a:rPr>
              <a:t>실패 대체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1687" y="3310128"/>
            <a:ext cx="16367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A5A00"/>
                </a:solidFill>
                <a:latin typeface="Apple SD Gothic Neo"/>
              </a:rPr>
              <a:t>LLM 실패 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A5A00"/>
                </a:solidFill>
                <a:latin typeface="Apple SD Gothic Neo"/>
              </a:rPr>
              <a:t>템플릿 문장으로 대체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350">
                <a:solidFill>
                  <a:srgbClr val="151B2E"/>
                </a:solidFill>
                <a:latin typeface="Apple SD Gothic Neo"/>
              </a:rPr>
              <a:t>AI(Claude)는 성향 등급·추천 카테고리를 절대 바꾸지 않는다 — 시스템 프롬프트에 명시적으로 금지.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350">
                <a:solidFill>
                  <a:srgbClr val="151B2E"/>
                </a:solidFill>
                <a:latin typeface="Apple SD Gothic Neo"/>
              </a:rPr>
              <a:t>API 키가 없거나 LLM 호출이 실패해도 진단은 201로 완료되고 reasoningSource=TEMPLATE로 표시된다 (ADR-008).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05. 유스케이스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Use Case Diagram (UC-01~UC-13)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1563" y="1764792"/>
            <a:ext cx="2817993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851" y="1783080"/>
            <a:ext cx="2781417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78308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9659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검토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377440"/>
            <a:ext cx="2651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1차(P0)/2차(P1) 패키지 분리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중복 유스케이스 통합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AI 분석 엔진 → &lt;&lt;include&gt;&gt; 관계로 정정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UC-01~13 ID 부여로 요구사항 추적성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06. 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S1 ~ S6 핵심 화면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460307"/>
            <a:ext cx="11100816" cy="32175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78595"/>
            <a:ext cx="11064240" cy="31809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07. 화면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S1 회원가입/로그인 · S2 진단 시작 · S3 진단 진행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0724"/>
            <a:ext cx="3611880" cy="2490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S1. 회원가입 · 로그인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40724"/>
            <a:ext cx="3611880" cy="24909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S2. 진단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640724"/>
            <a:ext cx="3611880" cy="24909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244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S3. 진단 진행 (질문 응답)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07. 화면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S4 분석 결과 · S5 탐색 카테고리 · S6 상품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0724"/>
            <a:ext cx="3611880" cy="2490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S4. 분석 결과 (AI 근거)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40724"/>
            <a:ext cx="3611880" cy="24909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S5. 탐색 카테고리 · 상품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622436"/>
            <a:ext cx="3648456" cy="252752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640724"/>
            <a:ext cx="3611880" cy="24909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2440" y="6016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S6. 상품 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08. 예외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실패해도 안전하게 — 미응답 차단 · LLM 실패 시 템플릿 대체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91815"/>
            <a:ext cx="5477256" cy="378876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0103"/>
            <a:ext cx="5440680" cy="37521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S3 예외 · 미응답 문항 (제출 버튼 비활성화)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991815"/>
            <a:ext cx="5477256" cy="378876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4_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0103"/>
            <a:ext cx="5440680" cy="37521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98932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51B2E"/>
                </a:solidFill>
                <a:latin typeface="Apple SD Gothic Neo"/>
              </a:rPr>
              <a:t>S4 예외 · LLM 설명 실패 → 템플릿 대체 (TEMPLATE)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09. 실행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설계 문서가 아니라 실제로 동작을 확인했습니다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7510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mvn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11개 테스트 전부 통과 (ProfileClassifier, SuitabilityMatcher)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64808" y="202996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029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7510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E2E 시나리오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33172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가입→로그인→질문→진단제출→결과→추천→상품목록/상세 실제 curl 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49300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930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3814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AI 장애 대응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9476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API 키 없이도 reasoningSource=TEMPLATE로 201 완료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918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349300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4930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3814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권한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79476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타 사용자 assessmentId 접근 403 / 미인증 401 / 중복가입 409 실제 재현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495604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956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0118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로그 안전성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5780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실행 로그에 이메일·비밀번호·토큰 미노출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7548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64808" y="4956048"/>
            <a:ext cx="384048" cy="384048"/>
          </a:xfrm>
          <a:prstGeom prst="ellipse">
            <a:avLst/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9560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F55E8"/>
                </a:solidFill>
                <a:latin typeface="Apple SD Gothic Neo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90118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51B2E"/>
                </a:solidFill>
                <a:latin typeface="Apple SD Gothic Neo"/>
              </a:rPr>
              <a:t>표현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25780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C6685"/>
                </a:solidFill>
                <a:latin typeface="Apple SD Gothic Neo"/>
              </a:rPr>
              <a:t>“투자 권유”·“수익 보장” 전수 검색 — 전부 부정문·면책 문구만 존재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10. 기술 스택 &amp;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B2C 서비스로서의 기술 스택과 배포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기술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6685"/>
                </a:solidFill>
                <a:latin typeface="Apple SD Gothic Ne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860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1B2E"/>
                </a:solidFill>
                <a:latin typeface="Apple SD Gothic Neo"/>
              </a:rPr>
              <a:t>Spring Boot 3 (Java 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6685"/>
                </a:solidFill>
                <a:latin typeface="Apple SD Gothic Neo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7889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1B2E"/>
                </a:solidFill>
                <a:latin typeface="Apple SD Gothic Neo"/>
              </a:rPr>
              <a:t>React + Vite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3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6685"/>
                </a:solidFill>
                <a:latin typeface="Apple SD Gothic Neo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9183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1B2E"/>
                </a:solidFill>
                <a:latin typeface="Apple SD Gothic Neo"/>
              </a:rPr>
              <a:t>PostgreSQL (Supabase 관리형)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5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C6685"/>
                </a:solidFill>
                <a:latin typeface="Apple SD Gothic Neo"/>
              </a:rPr>
              <a:t>Infra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79475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51B2E"/>
                </a:solidFill>
                <a:latin typeface="Apple SD Gothic Neo"/>
              </a:rPr>
              <a:t>Docker (멀티스테이지 빌드)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C6685"/>
                </a:solidFill>
                <a:latin typeface="Apple SD Gothic Neo"/>
              </a:rPr>
              <a:t>실제 크롬 브라우저로 회원가입 → 로그인 → 진단 5문항 응답 → 제출 → 결과(TEMPLATE 폴백 배너 포함) →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5C6685"/>
                </a:solidFill>
                <a:latin typeface="Apple SD Gothic Neo"/>
              </a:rPr>
              <a:t>탐색 카테고리 → 상품 상세까지 전체 시나리오를 클릭으로 재현하여 검증 완료 (콘솔 에러 없음).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배포 아키텍처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31720"/>
            <a:ext cx="16002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F5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478024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Netlify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346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51B2E"/>
                </a:solidFill>
                <a:latin typeface="Apple SD Gothic Neo"/>
              </a:rPr>
              <a:t>프론트엔드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154680"/>
            <a:ext cx="14538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C6685"/>
                </a:solidFill>
                <a:latin typeface="Apple SD Gothic Neo"/>
              </a:rPr>
              <a:t>정적 호스팅 (React 빌드)</a:t>
            </a:r>
          </a:p>
        </p:txBody>
      </p:sp>
      <p:sp>
        <p:nvSpPr>
          <p:cNvPr id="21" name="Chevron 20"/>
          <p:cNvSpPr/>
          <p:nvPr/>
        </p:nvSpPr>
        <p:spPr>
          <a:xfrm>
            <a:off x="7882128" y="2948940"/>
            <a:ext cx="283464" cy="182880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2331720"/>
            <a:ext cx="16002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F5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478024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51B2E"/>
                </a:solidFill>
                <a:latin typeface="Apple SD Gothic Neo"/>
              </a:rPr>
              <a:t>백엔드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154680"/>
            <a:ext cx="14538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C6685"/>
                </a:solidFill>
                <a:latin typeface="Apple SD Gothic Neo"/>
              </a:rPr>
              <a:t>Docker 컨테이너 (Spring Boot)</a:t>
            </a:r>
          </a:p>
        </p:txBody>
      </p:sp>
      <p:sp>
        <p:nvSpPr>
          <p:cNvPr id="26" name="Chevron 25"/>
          <p:cNvSpPr/>
          <p:nvPr/>
        </p:nvSpPr>
        <p:spPr>
          <a:xfrm>
            <a:off x="9802368" y="2948940"/>
            <a:ext cx="283464" cy="182880"/>
          </a:xfrm>
          <a:prstGeom prst="chevron">
            <a:avLst/>
          </a:prstGeom>
          <a:solidFill>
            <a:srgbClr val="8B95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2331720"/>
            <a:ext cx="16002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F5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2478024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Supabase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8346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51B2E"/>
                </a:solidFill>
                <a:latin typeface="Apple SD Gothic Neo"/>
              </a:rPr>
              <a:t>데이터베이스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3154680"/>
            <a:ext cx="14538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C6685"/>
                </a:solidFill>
                <a:latin typeface="Apple SD Gothic Neo"/>
              </a:rPr>
              <a:t>관리형 PostgreSQL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690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GitHub 저장소 연결만으로 3개 서비스 모두 자동 배포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신용카드 없이(또는 최소 등록) 무료 티어로 시작 가능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250">
                <a:solidFill>
                  <a:srgbClr val="151B2E"/>
                </a:solidFill>
                <a:latin typeface="Apple SD Gothic Neo"/>
              </a:rPr>
              <a:t>CORS는 배포된 프론트 도메인만 허용하도록 서버에서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3152" cy="384048"/>
          </a:xfrm>
          <a:prstGeom prst="rect">
            <a:avLst/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5E8"/>
                </a:solidFill>
                <a:latin typeface="Apple SD Gothic Neo"/>
              </a:rPr>
              <a:t>11. 산출물 &amp;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51B2E"/>
                </a:solidFill>
                <a:latin typeface="Apple SD Gothic Neo"/>
              </a:rPr>
              <a:t>제출 산출물 3종 + 2차 확장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제출 산출물 (완료)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151B2E"/>
                </a:solidFill>
                <a:latin typeface="Apple SD Gothic Neo"/>
              </a:rPr>
              <a:t>프로젝트 기술서 PDF (기획 3문서 + 와이어프레임 캡처)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151B2E"/>
                </a:solidFill>
                <a:latin typeface="Apple SD Gothic Neo"/>
              </a:rPr>
              <a:t>API 명세서 YML (FinMATE-API.yml, OAS 3.0)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2F55E8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151B2E"/>
                </a:solidFill>
                <a:latin typeface="Apple SD Gothic Neo"/>
              </a:rPr>
              <a:t>DB 다이어그램 DBML (FinMATE-DB.dbml, 9개 테이블)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C6685"/>
                </a:solidFill>
                <a:latin typeface="Apple SD Gothic Neo"/>
              </a:rPr>
              <a:t>2차 Agile(P1) 확장 후보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860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상품 비교 · 가상 포트폴리오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관리자 인증 및 질문·상품 CRUD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진단 이력 비교, 자연어 자유 입력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8B95B3"/>
                </a:solidFill>
                <a:latin typeface="Apple SD Gothic Neo"/>
              </a:rPr>
              <a:t>•  </a:t>
            </a:r>
            <a:r>
              <a:rPr sz="1400">
                <a:solidFill>
                  <a:srgbClr val="5C6685"/>
                </a:solidFill>
                <a:latin typeface="Apple SD Gothic Neo"/>
              </a:rPr>
              <a:t>토큰 만료 · 실시간 금융데이터 연동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2F5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280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ple SD Gothic Neo"/>
              </a:rPr>
              <a:t>감사합니다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CE4FF"/>
                </a:solidFill>
                <a:latin typeface="Apple SD Gothic Neo"/>
              </a:rPr>
              <a:t>질문과 피드백 환영합니다 · docs/ 및 backend/ 전체 코드는 저장소에서 확인 가능합니다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B95B3"/>
                </a:solidFill>
                <a:latin typeface="Apple SD Gothic Neo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